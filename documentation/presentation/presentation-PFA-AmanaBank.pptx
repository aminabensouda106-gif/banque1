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669280"/>
            <a:ext cx="1097280" cy="1097280"/>
          </a:xfrm>
          <a:prstGeom prst="ellipse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5029200"/>
            <a:ext cx="640080" cy="640080"/>
          </a:xfrm>
          <a:prstGeom prst="ellipse">
            <a:avLst/>
          </a:prstGeom>
          <a:solidFill>
            <a:srgbClr val="4C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ma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02920"/>
            <a:ext cx="3200400" cy="670699"/>
          </a:xfrm>
          <a:prstGeom prst="rect">
            <a:avLst/>
          </a:prstGeom>
        </p:spPr>
      </p:pic>
      <p:pic>
        <p:nvPicPr>
          <p:cNvPr id="7" name="Picture 6" descr="ems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2194560" cy="1097280"/>
          </a:xfrm>
          <a:prstGeom prst="rect">
            <a:avLst/>
          </a:prstGeom>
        </p:spPr>
      </p:pic>
      <p:pic>
        <p:nvPicPr>
          <p:cNvPr id="8" name="Picture 7" descr="honori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320040"/>
            <a:ext cx="1372494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965960"/>
            <a:ext cx="10972800" cy="3840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6B5344"/>
                </a:solidFill>
              </a:defRPr>
            </a:pPr>
            <a:r>
              <a:t>Projet de Fin d'Année — Ingénierie Informatique et Réseaux</a:t>
            </a:r>
          </a:p>
          <a:p>
            <a:pPr algn="ctr">
              <a:spcAft>
                <a:spcPts val="400"/>
              </a:spcAft>
              <a:defRPr sz="3400" b="1">
                <a:solidFill>
                  <a:srgbClr val="4B3621"/>
                </a:solidFill>
              </a:defRPr>
            </a:pPr>
            <a:r>
              <a:t>Système de gestion d'agence bancaire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A6893A"/>
                </a:solidFill>
              </a:defRPr>
            </a:pPr>
            <a:r>
              <a:t>Application web AmanaBank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3A2E22"/>
                </a:solidFill>
              </a:defRPr>
            </a:pPr>
          </a:p>
          <a:p>
            <a:pPr algn="ctr">
              <a:spcAft>
                <a:spcPts val="400"/>
              </a:spcAft>
              <a:defRPr sz="1600" b="0">
                <a:solidFill>
                  <a:srgbClr val="3A2E22"/>
                </a:solidFill>
              </a:defRPr>
            </a:pPr>
            <a:r>
              <a:t>Réalisé par : BENSOUDA Amina  ·  AFILAL Soraya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3A2E22"/>
                </a:solidFill>
              </a:defRPr>
            </a:pPr>
            <a:r>
              <a:t>Encadrée par : Dr. ORCHI HOUDA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3A2E22"/>
                </a:solidFill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6B5344"/>
                </a:solidFill>
              </a:defRPr>
            </a:pPr>
            <a:r>
              <a:t>École Marocaine des Sciences de l'Ingénieur — Rabat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6B5344"/>
                </a:solidFill>
              </a:defRPr>
            </a:pPr>
            <a:r>
              <a:t>Année universitaire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4B3621"/>
                </a:solidFill>
              </a:defRPr>
            </a:pPr>
            <a: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22860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888888"/>
                </a:solidFill>
              </a:defRPr>
            </a:pPr>
            <a:r>
              <a:t>15 minutes de présentation  ·  5 minutes de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520440" cy="1325880"/>
          </a:xfrm>
          <a:prstGeom prst="roundRect">
            <a:avLst/>
          </a:prstGeom>
          <a:solidFill>
            <a:srgbClr val="F9F6F1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0848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116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Contexte du projet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20848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0116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Problématique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28800"/>
            <a:ext cx="3520440" cy="1325880"/>
          </a:xfrm>
          <a:prstGeom prst="roundRect">
            <a:avLst/>
          </a:prstGeom>
          <a:solidFill>
            <a:srgbClr val="F9F6F1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58200" y="20848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0116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Objectifs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6850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6118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Méthodologie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29000"/>
            <a:ext cx="3520440" cy="1325880"/>
          </a:xfrm>
          <a:prstGeom prst="roundRect">
            <a:avLst/>
          </a:prstGeom>
          <a:solidFill>
            <a:srgbClr val="F9F6F1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720" y="36850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6118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Conception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290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58200" y="36850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6118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Réalisation / démonstration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029200"/>
            <a:ext cx="3520440" cy="1325880"/>
          </a:xfrm>
          <a:prstGeom prst="roundRect">
            <a:avLst/>
          </a:prstGeom>
          <a:solidFill>
            <a:srgbClr val="F9F6F1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52852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2120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Résultats obtenus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50292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52852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52120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Difficultés rencontrées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5029200"/>
            <a:ext cx="3520440" cy="1325880"/>
          </a:xfrm>
          <a:prstGeom prst="roundRect">
            <a:avLst/>
          </a:prstGeom>
          <a:solidFill>
            <a:srgbClr val="F9F6F1"/>
          </a:solidFill>
          <a:ln w="12700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58200" y="5285232"/>
            <a:ext cx="594360" cy="594360"/>
          </a:xfrm>
          <a:prstGeom prst="ellipse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212080"/>
            <a:ext cx="24688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Conclusion et perspectives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Contexte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01. Contexte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1700" b="0">
                <a:solidFill>
                  <a:srgbClr val="3A2E22"/>
                </a:solidFill>
              </a:defRPr>
            </a:pPr>
            <a:r>
              <a:t>La digitalisation des services bancaires est aujourd'hui un enjeu majeur. Au sein d'une agence, les agents traitent quotidiennement l'ouverture de comptes, les dépôts, retraits, virements et la supervision des opérations.</a:t>
            </a:r>
          </a:p>
          <a:p>
            <a:pPr algn="just">
              <a:spcAft>
                <a:spcPts val="1400"/>
              </a:spcAft>
              <a:defRPr sz="1700" b="0">
                <a:solidFill>
                  <a:srgbClr val="3A2E22"/>
                </a:solidFill>
              </a:defRPr>
            </a:pPr>
            <a:r>
              <a:t>Dans le cadre de notre formation en Ingénierie Informatique et Réseaux à l'EMSI Rabat, nous avons développé AmanaBank : un système web simulant la gestion d'une agence bancaire marocaine fictive, encadré par Dr. ORCHI HOUDA dans le cadre du PFA 2025/2026.</a:t>
            </a:r>
          </a:p>
          <a:p>
            <a:pPr algn="just">
              <a:spcAft>
                <a:spcPts val="1400"/>
              </a:spcAft>
              <a:defRPr sz="1700" b="0">
                <a:solidFill>
                  <a:srgbClr val="3A2E22"/>
                </a:solidFill>
              </a:defRPr>
            </a:pPr>
            <a:r>
              <a:t>Le projet reproduit les processus quotidiens d'une agence : accueil client, opérations financières, reporting, administration du personnel et portail client en ligne.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02.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Dans de nombreuses agences, la gestion repose encore sur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Fiches clients papier ou fichiers non centralisés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Suivi des soldes via tableur sans contrôle automatique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Opérations saisies manuellement, sujettes aux erreurs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Absence de journal centralisé des actions sensibles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Pas d'accès en ligne pour le client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Conséquences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Incohérences de solde et saisies répétitives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Faible traçabilité (agent responsable difficile à identifier)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Supervision limitée pour le chef d'agence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Comment concevoir une application web fiable qui centralise la gestion de l'agence tout en offrant un espace client sécurisé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03.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Analyser le besoin à partir du cahier des charges PFA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Modéliser le système (UML, MCD/MLD)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Concevoir une architecture Spring Boot en couches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Réaliser le noyau métier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Clients, comptes, transactions, utilisateurs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Audit, reporting, tableaux de bord KPI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Enrichir le périmètre avec des extensions cohérentes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Paiement de factures (LYDEC, ONEE, IAM…)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Commande de chéquier (workflow administratif)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Centre de notifications et portail client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Valider par 80 tests d'intégration et une démo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Méthodologie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04. Méthodologie de travail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Approche itérative et incrémentale inspirée du processus 2TUP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Piste conception : analyse, UML, modèle de données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Piste réalisation : modules testables phase par phase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Phases principales du projet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1. Conception UML (cas d'utilisation, classes, séquences)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2–3. Bootstrap Spring Boot + authentification par rôles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4–6. Métier cœur (clients, comptes, transactions)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7–8. Administration + reporting (dashboard, audit)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10–11. Extensions (paiement facture, chéquier)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13–14. Canal client (notifications, portail en ligne)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12. Clôture (manuel, script démo, rapport)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Chaque phase validée par mvn test avant de passer à la suivante.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4B3621"/>
                </a:solidFill>
              </a:defRPr>
            </a:pPr>
            <a:r>
              <a:t>05. Acteurs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2860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606040" cy="5029200"/>
          </a:xfrm>
          <a:prstGeom prst="roundRect">
            <a:avLst/>
          </a:prstGeom>
          <a:solidFill>
            <a:srgbClr val="F9F6F1"/>
          </a:solidFill>
          <a:ln w="1905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Agent bancaire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Clients et comptes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Opérations courantes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Historique et chéquiers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6060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7160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Chef d'agence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874519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Supervision et KPI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Notifications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Journal d'audit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2606040" cy="5029200"/>
          </a:xfrm>
          <a:prstGeom prst="roundRect">
            <a:avLst/>
          </a:prstGeom>
          <a:solidFill>
            <a:srgbClr val="F9F6F1"/>
          </a:solidFill>
          <a:ln w="1905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Administrateur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Gestion du personnel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Rôles et activation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Supervision globale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34440"/>
            <a:ext cx="26060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37160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Client bancaire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74519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Portail en ligne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Consultation comptes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Notifications et chéquiers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4B3621"/>
                </a:solidFill>
              </a:defRPr>
            </a:pPr>
            <a:r>
              <a:t>05. Cas d'utilisation — clients et comptes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530352"/>
            <a:ext cx="18288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888888"/>
                </a:solidFill>
              </a:defRPr>
            </a:pPr>
            <a:r>
              <a:t>Format paysage · Acteur à gauche · Packages métier en colonnes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148840"/>
            <a:ext cx="1417320" cy="2148840"/>
          </a:xfrm>
          <a:prstGeom prst="roundRect">
            <a:avLst/>
          </a:prstGeom>
          <a:solidFill>
            <a:srgbClr val="006633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Personnel</a:t>
            </a:r>
            <a:br/>
            <a:r>
              <a:t>de l'agence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F9F6F1"/>
                </a:solidFill>
              </a:defRPr>
            </a:pPr>
            <a:r>
              <a:t>Admin · Agent · Chef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749808"/>
            <a:ext cx="3063240" cy="1371600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749808"/>
            <a:ext cx="306324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Accès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1298448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S'authentifier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1627631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Se déconnecter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749808"/>
            <a:ext cx="3063240" cy="2359152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0368" y="749808"/>
            <a:ext cx="306324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0096" y="1298448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Ajouter un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1627631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Modifier un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0096" y="1956815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Consulter la fiche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0096" y="2285999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Rechercher un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0096" y="2615183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Gérer le statut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4776" y="749808"/>
            <a:ext cx="3063240" cy="2688336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94776" y="749808"/>
            <a:ext cx="306324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Comptes bancaires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04504" y="1298448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Ouvrir un compte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04504" y="1627631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Consulter un compte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04504" y="1956815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Lister les comptes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04504" y="2285999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Gérer le statut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04504" y="2615183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Commander un chéquier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04504" y="2944367"/>
            <a:ext cx="284378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000" b="0">
                <a:solidFill>
                  <a:srgbClr val="3A2E22"/>
                </a:solidFill>
              </a:defRPr>
            </a:pPr>
            <a:r>
              <a:t>Suivre une commande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47088" y="2386584"/>
            <a:ext cx="73152" cy="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8912" y="598932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B5344"/>
                </a:solidFill>
              </a:defRPr>
            </a:pPr>
            <a:r>
              <a:t>Socle métier cahier des charges §7.1 – §7.2 · Connexion unique /login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4B3621"/>
                </a:solidFill>
              </a:defRPr>
            </a:pPr>
            <a:r>
              <a:t>05. Cas d'utilisation — opérations financières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530352"/>
            <a:ext cx="18288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888888"/>
                </a:solidFill>
              </a:defRPr>
            </a:pPr>
            <a:r>
              <a:t>Agent bancaire · Transactions et contrôles métier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286000"/>
            <a:ext cx="1417320" cy="1828800"/>
          </a:xfrm>
          <a:prstGeom prst="roundRect">
            <a:avLst/>
          </a:prstGeom>
          <a:solidFill>
            <a:srgbClr val="006633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Personnel</a:t>
            </a:r>
            <a:br/>
            <a:r>
              <a:t>de l'agence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F9F6F1"/>
                </a:solidFill>
              </a:defRPr>
            </a:pPr>
            <a:r>
              <a:t>Agent · Chef ·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822960"/>
            <a:ext cx="4754880" cy="2688336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822960"/>
            <a:ext cx="475488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1371600"/>
            <a:ext cx="45354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Effectuer un dépôt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1700784"/>
            <a:ext cx="45354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Effectuer un retrait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029967"/>
            <a:ext cx="45354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Effectuer un virement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5688" y="2359151"/>
            <a:ext cx="45354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Payer une facture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688335"/>
            <a:ext cx="45354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l'historique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5688" y="3017519"/>
            <a:ext cx="45354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Éditer un relevé / reçu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965960"/>
            <a:ext cx="4526280" cy="1042416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1965960"/>
            <a:ext cx="452628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Règle transversale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2514600"/>
            <a:ext cx="43068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200" b="0">
                <a:solidFill>
                  <a:srgbClr val="3A2E22"/>
                </a:solidFill>
              </a:defRPr>
            </a:pPr>
            <a:r>
              <a:t>Contrôler l'éligibilité</a:t>
            </a:r>
            <a:br/>
            <a:r>
              <a:t>(solde, statut compte)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47088" y="3200400"/>
            <a:ext cx="73152" cy="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59" y="3200400"/>
            <a:ext cx="182881" cy="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95160" y="32461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888888"/>
                </a:solidFill>
              </a:defRPr>
            </a:pPr>
            <a:r>
              <a:t>&lt;&lt;include&gt;&gt; sur dépôt, retrait,</a:t>
            </a:r>
            <a:br/>
            <a:r>
              <a:t>virement et paiement facture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4B3621"/>
                </a:solidFill>
              </a:defRPr>
            </a:pPr>
            <a:r>
              <a:t>05. Cas d'utilisation — supervision et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530352"/>
            <a:ext cx="18288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888888"/>
                </a:solidFill>
              </a:defRPr>
            </a:pPr>
            <a:r>
              <a:t>Chef d'agence · Administrateur ·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0120"/>
            <a:ext cx="1417320" cy="1234440"/>
          </a:xfrm>
          <a:prstGeom prst="roundRect">
            <a:avLst/>
          </a:prstGeom>
          <a:solidFill>
            <a:srgbClr val="006633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Administrateur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F9F6F1"/>
                </a:solidFill>
              </a:defRPr>
            </a:pPr>
            <a:r>
              <a:t>Gestion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423160"/>
            <a:ext cx="1417320" cy="1234440"/>
          </a:xfrm>
          <a:prstGeom prst="roundRect">
            <a:avLst/>
          </a:prstGeom>
          <a:solidFill>
            <a:srgbClr val="006633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Chef d'agence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F9F6F1"/>
                </a:solidFill>
              </a:defRPr>
            </a:pPr>
            <a:r>
              <a:t>Supervision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886200"/>
            <a:ext cx="1417320" cy="1234440"/>
          </a:xfrm>
          <a:prstGeom prst="roundRect">
            <a:avLst/>
          </a:prstGeom>
          <a:solidFill>
            <a:srgbClr val="006633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Agent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F9F6F1"/>
                </a:solidFill>
              </a:defRPr>
            </a:pPr>
            <a:r>
              <a:t>Opérations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777240"/>
            <a:ext cx="9555480" cy="3017520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777240"/>
            <a:ext cx="955548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Supervision &amp;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1325880"/>
            <a:ext cx="9336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le tableau de bord (KPI)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5688" y="1655064"/>
            <a:ext cx="9336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Visualiser les opérations récentes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1984248"/>
            <a:ext cx="9336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les alertes métier (chéquier)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75688" y="2313432"/>
            <a:ext cx="9336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les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75688" y="2642615"/>
            <a:ext cx="9336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Gérer les utilisateurs internes  [Admin]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2971799"/>
            <a:ext cx="9336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le journal d'audit  [Chef · Admin]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75688" y="3300983"/>
            <a:ext cx="93360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Valider une opération sensible  [Chef]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4B3621"/>
                </a:solidFill>
              </a:defRPr>
            </a:pPr>
            <a:r>
              <a:t>05. Cas d'utilisation — portail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530352"/>
            <a:ext cx="18288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888888"/>
                </a:solidFill>
              </a:defRPr>
            </a:pPr>
            <a:r>
              <a:t>Consultation en lecture seule · Espace /portal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240280"/>
            <a:ext cx="1417320" cy="1920240"/>
          </a:xfrm>
          <a:prstGeom prst="roundRect">
            <a:avLst/>
          </a:prstGeom>
          <a:solidFill>
            <a:srgbClr val="006633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Client</a:t>
            </a:r>
            <a:br/>
            <a:r>
              <a:t>bancaire</a:t>
            </a:r>
          </a:p>
          <a:p>
            <a:pPr algn="ctr">
              <a:spcAft>
                <a:spcPts val="0"/>
              </a:spcAft>
              <a:defRPr sz="900" b="0">
                <a:solidFill>
                  <a:srgbClr val="F9F6F1"/>
                </a:solidFill>
              </a:defRPr>
            </a:pPr>
            <a:r>
              <a:t>CIN ou n°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960120"/>
            <a:ext cx="2926080" cy="1371600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960120"/>
            <a:ext cx="292608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Accès /login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1508760"/>
            <a:ext cx="2706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S'authentifier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1837943"/>
            <a:ext cx="2706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Se déconnecter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777240"/>
            <a:ext cx="6355080" cy="2688336"/>
          </a:xfrm>
          <a:prstGeom prst="roundRect">
            <a:avLst/>
          </a:prstGeom>
          <a:solidFill>
            <a:srgbClr val="F9F6F1"/>
          </a:solidFill>
          <a:ln w="15875">
            <a:solidFill>
              <a:srgbClr val="6B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66360" y="777240"/>
            <a:ext cx="6355080" cy="384048"/>
          </a:xfrm>
          <a:prstGeom prst="rect">
            <a:avLst/>
          </a:prstGeom>
          <a:solidFill>
            <a:srgbClr val="4B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Espace client /portal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76088" y="1325880"/>
            <a:ext cx="6135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le tableau de bord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1655064"/>
            <a:ext cx="6135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ses comptes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76088" y="1984248"/>
            <a:ext cx="6135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l'historique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76088" y="2313432"/>
            <a:ext cx="6135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Télécharger un reçu (PDF)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6088" y="2642615"/>
            <a:ext cx="6135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Suivre ses commandes chéquier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76088" y="2971799"/>
            <a:ext cx="6135624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Consulter ses notifications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847088" y="2011680"/>
            <a:ext cx="73152" cy="73152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47088" y="2560320"/>
            <a:ext cx="73152" cy="18288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37759" y="1417320"/>
            <a:ext cx="182881" cy="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66360" y="5440680"/>
            <a:ext cx="6355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06633"/>
                </a:solidFill>
              </a:defRPr>
            </a:pPr>
            <a:r>
              <a:t>Aucune opération d'écriture depuis le portail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4B3621"/>
                </a:solidFill>
              </a:defRPr>
            </a:pPr>
            <a:r>
              <a:t>05. MLD — cœur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530352"/>
            <a:ext cx="18288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888888"/>
                </a:solidFill>
              </a:defRPr>
            </a:pPr>
            <a:r>
              <a:t>Entités principales · Relations 1-N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04672"/>
            <a:ext cx="2697480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197864"/>
            <a:ext cx="25511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client_number, cin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nom, statut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portal_enabled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1 ──&lt; comptes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804672"/>
            <a:ext cx="2697480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197864"/>
            <a:ext cx="25511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client_id (FK)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type, status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balance, version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1 ──&lt;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804672"/>
            <a:ext cx="26974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9944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197864"/>
            <a:ext cx="255117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type, amount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source / dest (FK)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executed_by (FK)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executed_at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exécutée par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3456" y="804672"/>
            <a:ext cx="2697480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456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1197864"/>
            <a:ext cx="25511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username (UK)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role, enabled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password_hash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personnel agence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46120" y="1581912"/>
            <a:ext cx="164592" cy="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9632" y="1581912"/>
            <a:ext cx="164592" cy="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53144" y="1581912"/>
            <a:ext cx="164592" cy="0"/>
          </a:xfrm>
          <a:prstGeom prst="line">
            <a:avLst/>
          </a:prstGeom>
          <a:ln w="19050">
            <a:solidFill>
              <a:srgbClr val="A68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4892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4B3621"/>
                </a:solidFill>
              </a:defRPr>
            </a:pPr>
            <a:r>
              <a:t>Cardinalités : un client possède plusieurs comptes (R1–R2)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3A2E22"/>
                </a:solidFill>
              </a:defRPr>
            </a:pPr>
            <a:r>
              <a:t>Chaque transaction est liée à l'agent exécutant (R5) · Optimistic lock sur accounts.version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37160"/>
            <a:ext cx="11338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4B3621"/>
                </a:solidFill>
              </a:defRPr>
            </a:pPr>
            <a:r>
              <a:t>05. MLD —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530352"/>
            <a:ext cx="18288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888888"/>
                </a:solidFill>
              </a:defRPr>
            </a:pPr>
            <a:r>
              <a:t>Factures · Chéquier · Notifications ·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04672"/>
            <a:ext cx="2697480" cy="1408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bill_providers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197864"/>
            <a:ext cx="255117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code, name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category, active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→ bill_payments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804672"/>
            <a:ext cx="2697480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bill_payments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197864"/>
            <a:ext cx="25511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account_id (FK)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bill_provider_id (FK)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transaction_id (FK)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paiement facture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804672"/>
            <a:ext cx="2697480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9944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checkbook_orders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197864"/>
            <a:ext cx="25511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account_id (FK)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status, sheet_count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requested_by (FK)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sans impact solde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3456" y="804672"/>
            <a:ext cx="2697480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456" y="804672"/>
            <a:ext cx="2697480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1197864"/>
            <a:ext cx="2551176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recipient_type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client_id / user_id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type, read_at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agence ↔ client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3188" y="3246120"/>
            <a:ext cx="3776472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3188" y="3246120"/>
            <a:ext cx="3776472" cy="347472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audit_logs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6340" y="3639311"/>
            <a:ext cx="363016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900" b="1">
                <a:solidFill>
                  <a:srgbClr val="3A2E22"/>
                </a:solidFill>
              </a:defRPr>
            </a:pPr>
            <a:r>
              <a:t>* id (PK)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user_id (FK)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action, entity</a:t>
            </a:r>
          </a:p>
          <a:p>
            <a:pPr algn="l">
              <a:spcAft>
                <a:spcPts val="100"/>
              </a:spcAft>
              <a:defRPr sz="900" b="0">
                <a:solidFill>
                  <a:srgbClr val="3A2E22"/>
                </a:solidFill>
              </a:defRPr>
            </a:pPr>
            <a:r>
              <a:t>details, created_at</a:t>
            </a:r>
          </a:p>
          <a:p>
            <a:pPr algn="l">
              <a:spcAft>
                <a:spcPts val="0"/>
              </a:spcAft>
              <a:defRPr sz="800" b="1">
                <a:solidFill>
                  <a:srgbClr val="006633"/>
                </a:solidFill>
              </a:defRPr>
            </a:pPr>
            <a:r>
              <a:t>traçabilité actions sensibles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B5344"/>
                </a:solidFill>
              </a:defRPr>
            </a:pPr>
            <a:r>
              <a:t>11 migrations Flyway (V1–V11) · Schéma PostgreSQL banque_agence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05. Règles de gestion 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R1–R2 : Un client possède plusieurs comptes ; un compte → un seul client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R3 : Retrait / paiement refusé si solde insuffisant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R4 : Virement uniquement entre comptes actifs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R5–R8 : Traçabilité, comptes bloqués/clôturés, BCrypt, audit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R9–R14 : Facture (référence obligatoire), chéquier (1 seul PENDING, sans impact solde)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11 diagrammes UML : cas d'utilisation, classes, MCD/MLD, séquences, activité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Réalisation /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4B3621"/>
                </a:solidFill>
              </a:defRPr>
            </a:pPr>
            <a:r>
              <a:t>06. 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2860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535680" cy="5029200"/>
          </a:xfrm>
          <a:prstGeom prst="roundRect">
            <a:avLst/>
          </a:prstGeom>
          <a:solidFill>
            <a:srgbClr val="F9F6F1"/>
          </a:solidFill>
          <a:ln w="1905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6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Back-end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26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Java 21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Spring Boot 3.4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Spring Security + JPA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PostgreSQL + Flyway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OpenPDF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920" y="1234440"/>
            <a:ext cx="3535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371600"/>
            <a:ext cx="326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Front-end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1874519"/>
            <a:ext cx="326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Thymeleaf MVC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Bootstrap 5.3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Charte AmanaBank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DM Sans, CSS custom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1480" y="1234440"/>
            <a:ext cx="3535680" cy="5029200"/>
          </a:xfrm>
          <a:prstGeom prst="roundRect">
            <a:avLst/>
          </a:prstGeom>
          <a:solidFill>
            <a:srgbClr val="F9F6F1"/>
          </a:solidFill>
          <a:ln w="19050">
            <a:solidFill>
              <a:srgbClr val="A6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8640" y="1371600"/>
            <a:ext cx="326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4B3621"/>
                </a:solidFill>
              </a:defRPr>
            </a:pPr>
            <a:r>
              <a:t>Qualité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40" y="1874519"/>
            <a:ext cx="326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JUnit 5 — 80 tests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PlantUML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Git + seed dev</a:t>
            </a:r>
          </a:p>
          <a:p>
            <a:pPr>
              <a:spcAft>
                <a:spcPts val="500"/>
              </a:spcAft>
              <a:defRPr sz="1300" b="0">
                <a:solidFill>
                  <a:srgbClr val="3A2E22"/>
                </a:solidFill>
              </a:defRPr>
            </a:pPr>
            <a: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06. Architecture en couches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Monolithe Spring Boot — layered architecture :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Navigateur  →  Contrôleurs web  →  Services (@Transactional)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→  Repositories JPA  →  PostgreSQL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Transversal : Spring Security, AuditService, NotificationModelAdvice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9 entités JPA · 7 énumérations · ~40 classes Java · 20+ templates Thymeleaf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Espaces distincts : /dashboard (agence) et /portal (client)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Connexion unifiée /login avec redirection selon le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4B3621"/>
                </a:solidFill>
              </a:defRPr>
            </a:pPr>
            <a:r>
              <a:t>06. Interface — vitrine et connexion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2860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Landing page institutionnelle (/)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Charte marron · beige · or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Connexion unique personnel + client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Redirection automatique :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3A2E22"/>
                </a:solidFill>
              </a:defRPr>
            </a:pPr>
            <a:r>
              <a:t>/dashboard ou /portal/dashboard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Identifiants démo sur l'écran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115568"/>
            <a:ext cx="5806440" cy="5230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740860"/>
            <a:ext cx="5660136" cy="39797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4B3621"/>
                </a:solidFill>
              </a:defRPr>
            </a:pPr>
            <a:r>
              <a:t>06. Interface — espace agence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2860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Dashboard KPI (clients, comptes, volume)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Alertes chéquier cliquables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CRUD clients — recherche multicritère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Opérations : dépôt, retrait, virement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Paiement facture + reçu PDF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Workflow chéquier et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115568"/>
            <a:ext cx="5806440" cy="5230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740860"/>
            <a:ext cx="5660136" cy="39797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4B3621"/>
                </a:solidFill>
              </a:defRPr>
            </a:pPr>
            <a:r>
              <a:t>06. Interface — portail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2860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Consultation en lecture seule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Synthèse patrimoine et comptes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Historique + téléchargement PDF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Notifications opérations agence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Suivi commandes de chéquier</a:t>
            </a:r>
          </a:p>
          <a:p>
            <a:pPr>
              <a:spcAft>
                <a:spcPts val="500"/>
              </a:spcAft>
              <a:defRPr sz="1600" b="0">
                <a:solidFill>
                  <a:srgbClr val="3A2E22"/>
                </a:solidFill>
              </a:defRPr>
            </a:pPr>
            <a:r>
              <a:t>Badge « Espace client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115568"/>
            <a:ext cx="5806440" cy="5230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740860"/>
            <a:ext cx="5660136" cy="39797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06. Parcours de démonstration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Durée suggérée : 5 à 7 minutes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1. Landing → Connexion agent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2. Dashboard KPI et alertes chéquier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3. Fiche client → compte → dépôt ou virement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4. Paiement facture LYDEC / ONEE → reçu PDF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5. Commande chéquier → notification chef d'agence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6. Connexion client (CIN MB654321 — Moncef Bensouda)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7. Portail : comptes, historique, notifications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Application : run-dev.bat → http://localhost:8081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Résultats obtenus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07. Résultats obtenus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Cahier des charges §7–§12 : entièrement couvert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Extensions livrées : factures, chéquier, notifications, portail client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Indicateurs qualité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80 tests d'intégration automatisés (mvn test)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11 migrations Flyway versionnées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Jeu de démo reproductible (seed modulaire au démarrage)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• 11 diagrammes UML + rapport complet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Objectifs atteints :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✓ Centralisation des données clients et transactions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✓ Règles métier R1–R14 appliquées et testées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✓ Traçabilité (historique + AuditLog)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✓ Sécurité BCrypt, rôles, portail lecture seule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✓ Interfaces professionnelles par profil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Difficultés rencontrées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08. Difficultés rencontrées et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PostgreSQL port 5432 occupé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→ Basculement port 5433, documentation setup-postgresql.sql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Cohérence transactionnelle des soldes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→ @Transactional + @Version sur Account + tests dédiés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Authentification dual (personnel + client) sur un seul formulaire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→ UserDetailsServiceImpl composite (SecurityUser / SecurityClient)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Portail client sur base existante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→ DemoPortalSync au démarrage (profil dev)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Chéquier vs opération financière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→ Entité CheckbookOrder dédiée, sans impact sur le solde</a:t>
            </a: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3A2E22"/>
                </a:solidFill>
              </a:defRPr>
            </a:pPr>
            <a:r>
              <a:t>Refonte graphique pour une image bancaire professionnelle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A2E22"/>
                </a:solidFill>
              </a:defRPr>
            </a:pPr>
            <a:r>
              <a:t>→ Charte AmanaBank complète (landing, KPI, sidebar par rôle)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7772400" y="-457200"/>
            <a:ext cx="4572000" cy="82296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600" b="1">
                <a:solidFill>
                  <a:srgbClr val="C9A84C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Conclusion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9F6F1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4B3621"/>
                </a:solidFill>
              </a:defRPr>
            </a:pPr>
            <a:r>
              <a:t>09. Conclusion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743200" cy="36576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1700" b="0">
                <a:solidFill>
                  <a:srgbClr val="3A2E22"/>
                </a:solidFill>
              </a:defRPr>
            </a:pPr>
            <a:r>
              <a:t>AmanaBank répond de manière concrète à la problématique posée : centraliser la gestion d'une agence bancaire, sécuriser les opérations financières, garantir la traçabilité et offrir au client un espace de consultation en ligne.</a:t>
            </a:r>
          </a:p>
          <a:p>
            <a:pPr algn="just">
              <a:spcAft>
                <a:spcPts val="1400"/>
              </a:spcAft>
              <a:defRPr sz="1700" b="0">
                <a:solidFill>
                  <a:srgbClr val="3A2E22"/>
                </a:solidFill>
              </a:defRPr>
            </a:pPr>
            <a:r>
              <a:t>Ce PFA démontre notre maîtrise du cycle complet de développement Java/Spring Boot : analyse, UML, architecture en couches, sécurisation, tests et interfaces professionnelles.</a:t>
            </a:r>
          </a:p>
          <a:p>
            <a:pPr algn="just">
              <a:spcAft>
                <a:spcPts val="1400"/>
              </a:spcAft>
              <a:defRPr sz="1700" b="0">
                <a:solidFill>
                  <a:srgbClr val="3A2E22"/>
                </a:solidFill>
              </a:defRPr>
            </a:pPr>
            <a:r>
              <a:t>Perspectives : API REST (Swagger), export PDF des relevés complets, portail enrichi (alertes SMS/e-mail), authentification 2FA, CI/CD Docker, conformité KYC.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AmanaBank — BENSOUDA Amina &amp; AFILAL Soraya — EMSI Rabat —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6893A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3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6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a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3017520" cy="632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10332720" cy="3200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F9F6F1"/>
                </a:solidFill>
              </a:defRPr>
            </a:pPr>
          </a:p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Questions ?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9F6F1"/>
                </a:solidFill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F9F6F1"/>
                </a:solidFill>
              </a:defRPr>
            </a:pPr>
            <a:r>
              <a:t>BENSOUDA Amina  ·  AFILAL Soraya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9F6F1"/>
                </a:solidFill>
              </a:defRPr>
            </a:pPr>
            <a:r>
              <a:t>Dr. ORCHI HOUDA  —  EMSI Rabat  —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